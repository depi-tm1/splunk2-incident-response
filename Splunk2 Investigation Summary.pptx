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9C1C29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206240"/>
            <a:ext cx="5029200" cy="5029200"/>
          </a:xfrm>
          <a:prstGeom prst="ellipse">
            <a:avLst/>
          </a:prstGeom>
          <a:solidFill>
            <a:srgbClr val="2EC4B6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BOSS OF THE SOC  ·  2017 DATASET  ·  SPLUNK BOTSv2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9875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F6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Frothly Multi-Vector Compromise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2880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A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Forensics &amp; Incident Response — TAEDONGGANG APT Investigation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3703320"/>
            <a:ext cx="2834640" cy="18288"/>
          </a:xfrm>
          <a:prstGeom prst="rect">
            <a:avLst/>
          </a:prstGeom>
          <a:solidFill>
            <a:srgbClr val="D62839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4023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ID: IR-2026-001   |   Severity: CRITICAL   |   Status: Investigation Complete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966960" y="5212080"/>
            <a:ext cx="777240" cy="777240"/>
          </a:xfrm>
          <a:prstGeom prst="ellipse">
            <a:avLst/>
          </a:prstGeom>
          <a:solidFill>
            <a:srgbClr val="D62839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53498" y="5398618"/>
            <a:ext cx="404165" cy="40416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91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الملخص التنفيذي  |  Executive Summary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هجوم متعدد المراحل جمع بين تهديد داخلي، استغلال تطبيق الويب، اختراق الجلسة، التصيّد الاحتيالي، والفدية الخبيثة.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4F5F9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709928"/>
            <a:ext cx="548640" cy="548640"/>
          </a:xfrm>
          <a:prstGeom prst="ellipse">
            <a:avLst/>
          </a:prstGeom>
          <a:solidFill>
            <a:srgbClr val="D6283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482" y="1841602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6916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تهديد داخلي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417320" y="198424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628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INSIDER THREAT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49808" y="2423160"/>
            <a:ext cx="31638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 سرّبت وثيقة سرية إلى منافس (BerkBeer)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43400" y="150876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4F5F9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44568" y="1709928"/>
            <a:ext cx="548640" cy="548640"/>
          </a:xfrm>
          <a:prstGeom prst="ellipse">
            <a:avLst/>
          </a:prstGeom>
          <a:solidFill>
            <a:srgbClr val="D62839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6242" y="1841602"/>
            <a:ext cx="285293" cy="28529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12080" y="16916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استغلال الويب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212080" y="198424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628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EXPLOITATION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4544568" y="2423160"/>
            <a:ext cx="31638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 و XSS عبر TOR ضد /member.php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138160" y="150876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4F5F9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39328" y="1709928"/>
            <a:ext cx="548640" cy="548640"/>
          </a:xfrm>
          <a:prstGeom prst="ellipse">
            <a:avLst/>
          </a:prstGeom>
          <a:solidFill>
            <a:srgbClr val="D62839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1002" y="1841602"/>
            <a:ext cx="285293" cy="28529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006840" y="16916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اختراق الجلسة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9006840" y="198424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628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HIJACK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8339328" y="2423160"/>
            <a:ext cx="31638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سرقة كوكيز المسؤول Kevin وإنشاء حساب خفي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548640" y="370332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4F5F9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49808" y="3904488"/>
            <a:ext cx="548640" cy="548640"/>
          </a:xfrm>
          <a:prstGeom prst="ellipse">
            <a:avLst/>
          </a:prstGeom>
          <a:solidFill>
            <a:srgbClr val="D62839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482" y="4036162"/>
            <a:ext cx="285293" cy="285293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417320" y="38862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تصيّد احتيالي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1417320" y="417880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628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SPEARPHISHING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749808" y="4617720"/>
            <a:ext cx="31638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أرشيف ضار عبر FTP وPowerShell لتجاوز AMSI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4343400" y="370332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4F5F9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544568" y="3904488"/>
            <a:ext cx="548640" cy="548640"/>
          </a:xfrm>
          <a:prstGeom prst="ellipse">
            <a:avLst/>
          </a:prstGeom>
          <a:solidFill>
            <a:srgbClr val="D62839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6242" y="4036162"/>
            <a:ext cx="285293" cy="285293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212080" y="38862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اختراق فعلي USB</a:t>
            </a:r>
            <a:endParaRPr lang="en-US" sz="1400" dirty="0"/>
          </a:p>
        </p:txBody>
      </p:sp>
      <p:sp>
        <p:nvSpPr>
          <p:cNvPr id="32" name="Text 25"/>
          <p:cNvSpPr/>
          <p:nvPr/>
        </p:nvSpPr>
        <p:spPr>
          <a:xfrm>
            <a:off x="5212080" y="417880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628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INTRUSION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4544568" y="4617720"/>
            <a:ext cx="31638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سكربت PERL عبر USB على جهاز kutekitten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8138160" y="370332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4F5F9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8339328" y="3904488"/>
            <a:ext cx="548640" cy="548640"/>
          </a:xfrm>
          <a:prstGeom prst="ellipse">
            <a:avLst/>
          </a:prstGeom>
          <a:solidFill>
            <a:srgbClr val="D62839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1002" y="4036162"/>
            <a:ext cx="285293" cy="285293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9006840" y="38862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 فدية خبيثة</a:t>
            </a:r>
            <a:endParaRPr lang="en-US" sz="1400" dirty="0"/>
          </a:p>
        </p:txBody>
      </p:sp>
      <p:sp>
        <p:nvSpPr>
          <p:cNvPr id="38" name="Text 30"/>
          <p:cNvSpPr/>
          <p:nvPr/>
        </p:nvSpPr>
        <p:spPr>
          <a:xfrm>
            <a:off x="9006840" y="417880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628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</a:t>
            </a:r>
            <a:endParaRPr lang="en-US" sz="900" dirty="0"/>
          </a:p>
        </p:txBody>
      </p:sp>
      <p:sp>
        <p:nvSpPr>
          <p:cNvPr id="39" name="Text 31"/>
          <p:cNvSpPr/>
          <p:nvPr/>
        </p:nvSpPr>
        <p:spPr>
          <a:xfrm>
            <a:off x="8339328" y="4617720"/>
            <a:ext cx="31638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تشفير جماعي للملفات على MACLORY-AIR13</a:t>
            </a:r>
            <a:endParaRPr lang="en-US" sz="1100" dirty="0"/>
          </a:p>
        </p:txBody>
      </p:sp>
      <p:sp>
        <p:nvSpPr>
          <p:cNvPr id="40" name="Text 3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Frothly Multi-Vector Compromise  |  IR-2026-001</a:t>
            </a:r>
            <a:endParaRPr lang="en-US" sz="900" dirty="0"/>
          </a:p>
        </p:txBody>
      </p:sp>
      <p:sp>
        <p:nvSpPr>
          <p:cNvPr id="41" name="Text 3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91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تحديد الحادثة  |  Incident Identification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12141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508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75564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6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CRITICAL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3317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/ Complete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19856" y="137160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12141C"/>
          </a:solidFill>
          <a:ln/>
        </p:spPr>
      </p:sp>
      <p:sp>
        <p:nvSpPr>
          <p:cNvPr id="8" name="Text 6"/>
          <p:cNvSpPr/>
          <p:nvPr/>
        </p:nvSpPr>
        <p:spPr>
          <a:xfrm>
            <a:off x="3602736" y="1508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SOURCE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02736" y="175564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6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Splunk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602736" y="23317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botsv2 dataset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91072" y="137160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12141C"/>
          </a:solidFill>
          <a:ln/>
        </p:spPr>
      </p:sp>
      <p:sp>
        <p:nvSpPr>
          <p:cNvPr id="12" name="Text 10"/>
          <p:cNvSpPr/>
          <p:nvPr/>
        </p:nvSpPr>
        <p:spPr>
          <a:xfrm>
            <a:off x="6473952" y="1508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ATTACKER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73952" y="175564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6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45.77.65.211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73952" y="23317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 exit node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162288" y="137160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12141C"/>
          </a:solidFill>
          <a:ln/>
        </p:spPr>
      </p:sp>
      <p:sp>
        <p:nvSpPr>
          <p:cNvPr id="16" name="Text 14"/>
          <p:cNvSpPr/>
          <p:nvPr/>
        </p:nvSpPr>
        <p:spPr>
          <a:xfrm>
            <a:off x="9345168" y="1508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COMPROMISED ADMIN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345168" y="175564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6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Kevin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345168" y="23317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10.0.2.109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971800"/>
          <a:ext cx="1106424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8046720"/>
              </a:tblGrid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91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Web Infrastructure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61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brewertalk.com  (172.31.4.249)   —   URI: /member.php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91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 Systems Targeted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61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10.0.2.101 (Amber)  ·  10.0.2.109 (Kevin)  ·  kutekitten  ·  AWS Environment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91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Target System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61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MACLORY-AIR13 (Mallory)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91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Exposed Credentials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61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username=kevin / password=8675309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91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Stolen Session Cookie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61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sid=4afac54f6033eff2a78da68797faa38a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91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Attack Vectors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61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Exploitation · HTTP TRACE Abuse · Malicious USB (Physical) · Spearphishing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Frothly Multi-Vector Compromise  |  IR-2026-001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91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الجدول الزمني للهجوم  |  Timeline of Events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(كل الأوقات UTC)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85800" y="2880360"/>
            <a:ext cx="10835640" cy="0"/>
          </a:xfrm>
          <a:prstGeom prst="line">
            <a:avLst/>
          </a:prstGeom>
          <a:noFill/>
          <a:ln w="25400">
            <a:solidFill>
              <a:srgbClr val="D8DA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3504" y="2798064"/>
            <a:ext cx="164592" cy="164592"/>
          </a:xfrm>
          <a:prstGeom prst="ellipse">
            <a:avLst/>
          </a:prstGeom>
          <a:solidFill>
            <a:srgbClr val="D62839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2194560"/>
            <a:ext cx="0" cy="621792"/>
          </a:xfrm>
          <a:prstGeom prst="line">
            <a:avLst/>
          </a:prstGeom>
          <a:noFill/>
          <a:ln w="12700">
            <a:solidFill>
              <a:srgbClr val="D8DA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99032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628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08-03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618488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91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Recon &amp; Exfiltration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1947672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 recon + patent.docx exfiltrated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151453" y="2798064"/>
            <a:ext cx="164592" cy="164592"/>
          </a:xfrm>
          <a:prstGeom prst="ellipse">
            <a:avLst/>
          </a:prstGeom>
          <a:solidFill>
            <a:srgbClr val="D62839"/>
          </a:solidFill>
          <a:ln/>
        </p:spPr>
      </p:sp>
      <p:sp>
        <p:nvSpPr>
          <p:cNvPr id="11" name="Shape 9"/>
          <p:cNvSpPr/>
          <p:nvPr/>
        </p:nvSpPr>
        <p:spPr>
          <a:xfrm>
            <a:off x="2233749" y="2962656"/>
            <a:ext cx="0" cy="548640"/>
          </a:xfrm>
          <a:prstGeom prst="line">
            <a:avLst/>
          </a:prstGeom>
          <a:noFill/>
          <a:ln w="12700">
            <a:solidFill>
              <a:srgbClr val="D8DA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93085" y="3538728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628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08-03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493085" y="3758184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91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USB Intrusion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493085" y="4069080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USB on kutekitten (Kevin)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699401" y="2798064"/>
            <a:ext cx="164592" cy="164592"/>
          </a:xfrm>
          <a:prstGeom prst="ellipse">
            <a:avLst/>
          </a:prstGeom>
          <a:solidFill>
            <a:srgbClr val="D62839"/>
          </a:solidFill>
          <a:ln/>
        </p:spPr>
      </p:sp>
      <p:sp>
        <p:nvSpPr>
          <p:cNvPr id="16" name="Shape 14"/>
          <p:cNvSpPr/>
          <p:nvPr/>
        </p:nvSpPr>
        <p:spPr>
          <a:xfrm>
            <a:off x="3781697" y="2194560"/>
            <a:ext cx="0" cy="621792"/>
          </a:xfrm>
          <a:prstGeom prst="line">
            <a:avLst/>
          </a:prstGeom>
          <a:noFill/>
          <a:ln w="12700">
            <a:solidFill>
              <a:srgbClr val="D8DA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41033" y="1399032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628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08-10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041033" y="1618488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91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Injection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041033" y="1947672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45.77.65.211 attacks /member.php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247350" y="2798064"/>
            <a:ext cx="164592" cy="164592"/>
          </a:xfrm>
          <a:prstGeom prst="ellipse">
            <a:avLst/>
          </a:prstGeom>
          <a:solidFill>
            <a:srgbClr val="D62839"/>
          </a:solidFill>
          <a:ln/>
        </p:spPr>
      </p:sp>
      <p:sp>
        <p:nvSpPr>
          <p:cNvPr id="21" name="Shape 19"/>
          <p:cNvSpPr/>
          <p:nvPr/>
        </p:nvSpPr>
        <p:spPr>
          <a:xfrm>
            <a:off x="5329646" y="2962656"/>
            <a:ext cx="0" cy="548640"/>
          </a:xfrm>
          <a:prstGeom prst="line">
            <a:avLst/>
          </a:prstGeom>
          <a:noFill/>
          <a:ln w="12700">
            <a:solidFill>
              <a:srgbClr val="D8DA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88982" y="3538728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628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08-15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88982" y="3758184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91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Hijack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88982" y="4069080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Kevin's admin session stolen (71.39.18.125)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795298" y="2798064"/>
            <a:ext cx="164592" cy="164592"/>
          </a:xfrm>
          <a:prstGeom prst="ellipse">
            <a:avLst/>
          </a:prstGeom>
          <a:solidFill>
            <a:srgbClr val="D62839"/>
          </a:solidFill>
          <a:ln/>
        </p:spPr>
      </p:sp>
      <p:sp>
        <p:nvSpPr>
          <p:cNvPr id="26" name="Shape 24"/>
          <p:cNvSpPr/>
          <p:nvPr/>
        </p:nvSpPr>
        <p:spPr>
          <a:xfrm>
            <a:off x="6877594" y="2194560"/>
            <a:ext cx="0" cy="621792"/>
          </a:xfrm>
          <a:prstGeom prst="line">
            <a:avLst/>
          </a:prstGeom>
          <a:noFill/>
          <a:ln w="12700">
            <a:solidFill>
              <a:srgbClr val="D8DA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36930" y="1399032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628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08-16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36930" y="1618488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91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Persistence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136930" y="1947672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Rogue account 'klagerfield' created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8343247" y="2798064"/>
            <a:ext cx="164592" cy="164592"/>
          </a:xfrm>
          <a:prstGeom prst="ellipse">
            <a:avLst/>
          </a:prstGeom>
          <a:solidFill>
            <a:srgbClr val="D62839"/>
          </a:solidFill>
          <a:ln/>
        </p:spPr>
      </p:sp>
      <p:sp>
        <p:nvSpPr>
          <p:cNvPr id="31" name="Shape 29"/>
          <p:cNvSpPr/>
          <p:nvPr/>
        </p:nvSpPr>
        <p:spPr>
          <a:xfrm>
            <a:off x="8425543" y="2962656"/>
            <a:ext cx="0" cy="548640"/>
          </a:xfrm>
          <a:prstGeom prst="line">
            <a:avLst/>
          </a:prstGeom>
          <a:noFill/>
          <a:ln w="12700">
            <a:solidFill>
              <a:srgbClr val="D8DA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84879" y="3538728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628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08-18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684879" y="3758184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91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Ransomware Starts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684879" y="4069080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encryption begins on MACLORY-AIR13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9891195" y="2798064"/>
            <a:ext cx="164592" cy="164592"/>
          </a:xfrm>
          <a:prstGeom prst="ellipse">
            <a:avLst/>
          </a:prstGeom>
          <a:solidFill>
            <a:srgbClr val="D62839"/>
          </a:solidFill>
          <a:ln/>
        </p:spPr>
      </p:sp>
      <p:sp>
        <p:nvSpPr>
          <p:cNvPr id="36" name="Shape 34"/>
          <p:cNvSpPr/>
          <p:nvPr/>
        </p:nvSpPr>
        <p:spPr>
          <a:xfrm>
            <a:off x="9973491" y="2194560"/>
            <a:ext cx="0" cy="621792"/>
          </a:xfrm>
          <a:prstGeom prst="line">
            <a:avLst/>
          </a:prstGeom>
          <a:noFill/>
          <a:ln w="12700">
            <a:solidFill>
              <a:srgbClr val="D8DAE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232827" y="1399032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628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08-24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9232827" y="1618488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91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Spearphishing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9232827" y="1947672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invoice.zip delivered to 4 employees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11439144" y="2798064"/>
            <a:ext cx="164592" cy="164592"/>
          </a:xfrm>
          <a:prstGeom prst="ellipse">
            <a:avLst/>
          </a:prstGeom>
          <a:solidFill>
            <a:srgbClr val="D62839"/>
          </a:solidFill>
          <a:ln/>
        </p:spPr>
      </p:sp>
      <p:sp>
        <p:nvSpPr>
          <p:cNvPr id="41" name="Shape 39"/>
          <p:cNvSpPr/>
          <p:nvPr/>
        </p:nvSpPr>
        <p:spPr>
          <a:xfrm>
            <a:off x="11521440" y="2962656"/>
            <a:ext cx="0" cy="548640"/>
          </a:xfrm>
          <a:prstGeom prst="line">
            <a:avLst/>
          </a:prstGeom>
          <a:noFill/>
          <a:ln w="12700">
            <a:solidFill>
              <a:srgbClr val="D8DAE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250424" y="3538728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628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08-29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0250424" y="3758184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91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Defense Evasion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10250424" y="4069080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suppressed via tee /dev/null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Frothly Multi-Vector Compromise  |  IR-2026-001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91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مراحل الهجوم بالتفصيل  |  Attack Phases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440680" cy="2331720"/>
          </a:xfrm>
          <a:prstGeom prst="roundRect">
            <a:avLst>
              <a:gd name="adj" fmla="val 3137"/>
            </a:avLst>
          </a:prstGeom>
          <a:solidFill>
            <a:srgbClr val="F4F5F9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49808" y="1435608"/>
            <a:ext cx="502920" cy="502920"/>
          </a:xfrm>
          <a:prstGeom prst="ellipse">
            <a:avLst/>
          </a:prstGeom>
          <a:solidFill>
            <a:srgbClr val="D62839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0509" y="1556309"/>
            <a:ext cx="261518" cy="26151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417320"/>
            <a:ext cx="4434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628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371600" y="1636776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Insider Threat &amp; Exfiltration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49808" y="2103120"/>
            <a:ext cx="503834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 (10.0.2.101) recon على مواقع منافسة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تسريب Saccharomyces_cerevisiae_patent.docx إلى BerkBeer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تثبيت TOR وتعديل الطوابع الزمنية (EventCode 2)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263640" y="1234440"/>
            <a:ext cx="5440680" cy="2331720"/>
          </a:xfrm>
          <a:prstGeom prst="roundRect">
            <a:avLst>
              <a:gd name="adj" fmla="val 3137"/>
            </a:avLst>
          </a:prstGeom>
          <a:solidFill>
            <a:srgbClr val="F4F5F9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64808" y="1435608"/>
            <a:ext cx="502920" cy="502920"/>
          </a:xfrm>
          <a:prstGeom prst="ellipse">
            <a:avLst/>
          </a:prstGeom>
          <a:solidFill>
            <a:srgbClr val="D6283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5509" y="1556309"/>
            <a:ext cx="261518" cy="26151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86600" y="1417320"/>
            <a:ext cx="4434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628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7086600" y="1636776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Compromise &amp; Session Hijack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6464808" y="2103120"/>
            <a:ext cx="503834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 عبر updatexml على /member.php من TOR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XSS لسرقة كوكيز الجلسة الخاصة بـ Kevin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إنشاء حساب خلفي 'klagerfield' عبر CSRF مسروق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48640" y="3822192"/>
            <a:ext cx="5440680" cy="2331720"/>
          </a:xfrm>
          <a:prstGeom prst="roundRect">
            <a:avLst>
              <a:gd name="adj" fmla="val 3137"/>
            </a:avLst>
          </a:prstGeom>
          <a:solidFill>
            <a:srgbClr val="F4F5F9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49808" y="4023360"/>
            <a:ext cx="502920" cy="502920"/>
          </a:xfrm>
          <a:prstGeom prst="ellipse">
            <a:avLst/>
          </a:prstGeom>
          <a:solidFill>
            <a:srgbClr val="D62839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509" y="4144061"/>
            <a:ext cx="261518" cy="26151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71600" y="4005072"/>
            <a:ext cx="4434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628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371600" y="4224528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Spearphishing &amp; APT Infection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749808" y="4690872"/>
            <a:ext cx="503834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invoice.zip محمي بكلمة مرور من jsmith@urinalysis.com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ftp.exe لتنزيل حمولة ثانوية عبر RETR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 معقّد يتجاوز AMSI ويؤسس C2 عبر HTTPS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6263640" y="3822192"/>
            <a:ext cx="5440680" cy="2331720"/>
          </a:xfrm>
          <a:prstGeom prst="roundRect">
            <a:avLst>
              <a:gd name="adj" fmla="val 3137"/>
            </a:avLst>
          </a:prstGeom>
          <a:solidFill>
            <a:srgbClr val="F4F5F9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464808" y="4023360"/>
            <a:ext cx="502920" cy="502920"/>
          </a:xfrm>
          <a:prstGeom prst="ellipse">
            <a:avLst/>
          </a:prstGeom>
          <a:solidFill>
            <a:srgbClr val="D62839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5509" y="4144061"/>
            <a:ext cx="261518" cy="26151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086600" y="4005072"/>
            <a:ext cx="4434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628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7086600" y="4224528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USB Intrusion &amp; Ransomware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6464808" y="4690872"/>
            <a:ext cx="503834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خبيث على kutekitten ينزل ملف PERL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أوامر متسلسلة find/zip/rm/touch على MACLORY-AIR13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تشفير الملفات بامتداد .crypt وإخفاء السجلات (tee)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Frothly Multi-Vector Compromise  |  IR-2026-001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91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تصنيف MITRE ATT&amp;CK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5156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291840"/>
                <a:gridCol w="557784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Tactic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Technique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C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B61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Initial Access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628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Phishing (T1566.001)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1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invoice.zip / invoice.doc spearphishing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B61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Initial Access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628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 Additions (T1200)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1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Malicious Perl via USB devices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B61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628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 &amp; Scripting (T1059)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1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PowerShell C2 · Perl malware · Bash ransomware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B61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628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Scheduled Task/Job (T1053)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1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schtasks maintains C2 payload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B61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Credential Access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628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Steal Web Session Cookie (T1539)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1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XSS payload steals admin session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B61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Discovery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628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Service Dashboard (T1538)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1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enumerates AWS /latest/meta-data/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B61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Defense Evasion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628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Indicator Removal (T1070)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1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Timestamp edits · tee output to /dev/null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B61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 &amp; Control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628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 Layer Protocol (T1071)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1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HTTPS beaconing · dynamic DNS tunneling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B61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628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Encrypted for Impact (T1486)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1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Ransomware appends .crypt extension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Frothly Multi-Vector Compromise  |  IR-2026-001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91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تحليل الترابط  |  Correlation Analysis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الهجوم ليس أحداثاً عشوائية، بل حملة منسّقة بالكامل عبر خمس خطوات مترابطة: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920240" cy="1920240"/>
          </a:xfrm>
          <a:prstGeom prst="roundRect">
            <a:avLst>
              <a:gd name="adj" fmla="val 4286"/>
            </a:avLst>
          </a:prstGeom>
          <a:solidFill>
            <a:srgbClr val="F4F5F9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16152" y="2029968"/>
            <a:ext cx="585216" cy="585216"/>
          </a:xfrm>
          <a:prstGeom prst="ellipse">
            <a:avLst/>
          </a:prstGeom>
          <a:solidFill>
            <a:srgbClr val="D6283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6604" y="2170420"/>
            <a:ext cx="304312" cy="3043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2743200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91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Insider Enablement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58368" y="324612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 + anti-forensics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2468880" y="25603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628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2834640" y="1828800"/>
            <a:ext cx="1920240" cy="1920240"/>
          </a:xfrm>
          <a:prstGeom prst="roundRect">
            <a:avLst>
              <a:gd name="adj" fmla="val 4286"/>
            </a:avLst>
          </a:prstGeom>
          <a:solidFill>
            <a:srgbClr val="F4F5F9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02152" y="2029968"/>
            <a:ext cx="585216" cy="585216"/>
          </a:xfrm>
          <a:prstGeom prst="ellipse">
            <a:avLst/>
          </a:prstGeom>
          <a:solidFill>
            <a:srgbClr val="D62839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2604" y="2170420"/>
            <a:ext cx="304312" cy="3043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944368" y="2743200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91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→ Credential Access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2944368" y="324612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 dumps DB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4754880" y="25603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628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5120640" y="1828800"/>
            <a:ext cx="1920240" cy="1920240"/>
          </a:xfrm>
          <a:prstGeom prst="roundRect">
            <a:avLst>
              <a:gd name="adj" fmla="val 4286"/>
            </a:avLst>
          </a:prstGeom>
          <a:solidFill>
            <a:srgbClr val="F4F5F9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788152" y="2029968"/>
            <a:ext cx="585216" cy="585216"/>
          </a:xfrm>
          <a:prstGeom prst="ellipse">
            <a:avLst/>
          </a:prstGeom>
          <a:solidFill>
            <a:srgbClr val="D62839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8604" y="2170420"/>
            <a:ext cx="304312" cy="30431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230368" y="2743200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91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Hijack → Privilege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5230368" y="324612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XSS steals cookie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7040880" y="25603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628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17"/>
          <p:cNvSpPr/>
          <p:nvPr/>
        </p:nvSpPr>
        <p:spPr>
          <a:xfrm>
            <a:off x="7406640" y="1828800"/>
            <a:ext cx="1920240" cy="1920240"/>
          </a:xfrm>
          <a:prstGeom prst="roundRect">
            <a:avLst>
              <a:gd name="adj" fmla="val 4286"/>
            </a:avLst>
          </a:prstGeom>
          <a:solidFill>
            <a:srgbClr val="F4F5F9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8074152" y="2029968"/>
            <a:ext cx="585216" cy="585216"/>
          </a:xfrm>
          <a:prstGeom prst="ellipse">
            <a:avLst/>
          </a:prstGeom>
          <a:solidFill>
            <a:srgbClr val="D62839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4604" y="2170420"/>
            <a:ext cx="304312" cy="30431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516368" y="2743200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91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 → Phishing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7516368" y="324612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klagerfield used internally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9326880" y="25603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628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Shape 22"/>
          <p:cNvSpPr/>
          <p:nvPr/>
        </p:nvSpPr>
        <p:spPr>
          <a:xfrm>
            <a:off x="9692640" y="1828800"/>
            <a:ext cx="1920240" cy="1920240"/>
          </a:xfrm>
          <a:prstGeom prst="roundRect">
            <a:avLst>
              <a:gd name="adj" fmla="val 4286"/>
            </a:avLst>
          </a:prstGeom>
          <a:solidFill>
            <a:srgbClr val="12141C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10360152" y="2029968"/>
            <a:ext cx="585216" cy="585216"/>
          </a:xfrm>
          <a:prstGeom prst="ellipse">
            <a:avLst/>
          </a:prstGeom>
          <a:solidFill>
            <a:srgbClr val="D62839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00604" y="2170420"/>
            <a:ext cx="304312" cy="30431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802368" y="2743200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F6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Unified C2 Infrastructure</a:t>
            </a:r>
            <a:endParaRPr lang="en-US" sz="1150" dirty="0"/>
          </a:p>
        </p:txBody>
      </p:sp>
      <p:sp>
        <p:nvSpPr>
          <p:cNvPr id="32" name="Text 25"/>
          <p:cNvSpPr/>
          <p:nvPr/>
        </p:nvSpPr>
        <p:spPr>
          <a:xfrm>
            <a:off x="9802368" y="324612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45.77.65.211 · duckdns/hopto</a:t>
            </a:r>
            <a:endParaRPr lang="en-US" sz="950" dirty="0"/>
          </a:p>
        </p:txBody>
      </p:sp>
      <p:sp>
        <p:nvSpPr>
          <p:cNvPr id="33" name="Shape 26"/>
          <p:cNvSpPr/>
          <p:nvPr/>
        </p:nvSpPr>
        <p:spPr>
          <a:xfrm>
            <a:off x="548640" y="4160520"/>
            <a:ext cx="11064240" cy="1920240"/>
          </a:xfrm>
          <a:prstGeom prst="roundRect">
            <a:avLst>
              <a:gd name="adj" fmla="val 3810"/>
            </a:avLst>
          </a:prstGeom>
          <a:solidFill>
            <a:srgbClr val="12141C"/>
          </a:solidFill>
          <a:ln/>
        </p:spPr>
      </p:sp>
      <p:sp>
        <p:nvSpPr>
          <p:cNvPr id="34" name="Text 27"/>
          <p:cNvSpPr/>
          <p:nvPr/>
        </p:nvSpPr>
        <p:spPr>
          <a:xfrm>
            <a:off x="822960" y="43159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HIGHLIGHTS</a:t>
            </a:r>
            <a:endParaRPr lang="en-US" sz="1000" dirty="0"/>
          </a:p>
        </p:txBody>
      </p:sp>
      <p:sp>
        <p:nvSpPr>
          <p:cNvPr id="35" name="Text 28"/>
          <p:cNvSpPr/>
          <p:nvPr/>
        </p:nvSpPr>
        <p:spPr>
          <a:xfrm>
            <a:off x="822960" y="461772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 Payload: updatexml(...)  ·  XSS: document.location=45.77.65.211:9999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Stolen CSRF: my_post_key=1bc3eab741900ab25c98eee86bf20feb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 MD5: 72d4d36...a6d (PERL, Trojan.Fruitfly family)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 extension: .crypt   |   C2 Domains: eidk.duckdns.org, eidk.hopto.org, hh4de2.hopto.org</a:t>
            </a:r>
            <a:endParaRPr lang="en-US" sz="1150" dirty="0"/>
          </a:p>
        </p:txBody>
      </p:sp>
      <p:sp>
        <p:nvSpPr>
          <p:cNvPr id="36" name="Text 2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Frothly Multi-Vector Compromise  |  IR-2026-001</a:t>
            </a:r>
            <a:endParaRPr lang="en-US" sz="900" dirty="0"/>
          </a:p>
        </p:txBody>
      </p:sp>
      <p:sp>
        <p:nvSpPr>
          <p:cNvPr id="37" name="Text 3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91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مؤشرات الاختراق  |  Indicators of Compromise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F4F5F9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325880"/>
            <a:ext cx="457200" cy="457200"/>
          </a:xfrm>
          <a:prstGeom prst="ellipse">
            <a:avLst/>
          </a:prstGeom>
          <a:solidFill>
            <a:srgbClr val="12141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435608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3716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1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IOCs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31520" y="1920240"/>
            <a:ext cx="3246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45.77.65.211 — Attacker / TOR / C2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71.39.18.125 — Session hijack IP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172.31.10.10 — AWS metadata recon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306824" y="114300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F4F5F9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489704" y="1325880"/>
            <a:ext cx="457200" cy="457200"/>
          </a:xfrm>
          <a:prstGeom prst="ellipse">
            <a:avLst/>
          </a:prstGeom>
          <a:solidFill>
            <a:srgbClr val="12141C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9432" y="143560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084064" y="13716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1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 IOCs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489704" y="1920240"/>
            <a:ext cx="3246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brewertalk.com — Target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eidk.duckdns.org / eidk.hopto.org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hh4de2.hopto.org — C2 beaconing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8065008" y="114300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F4F5F9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247888" y="1325880"/>
            <a:ext cx="457200" cy="457200"/>
          </a:xfrm>
          <a:prstGeom prst="ellipse">
            <a:avLst/>
          </a:prstGeom>
          <a:solidFill>
            <a:srgbClr val="12141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7616" y="1435608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842248" y="13716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1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Attack IOCs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8247888" y="1920240"/>
            <a:ext cx="3246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User-Agent: w3af.org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TRACE method abuse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updatexml() SQLi · &lt;script&gt; XSS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548640" y="365760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F4F5F9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31520" y="3840480"/>
            <a:ext cx="457200" cy="457200"/>
          </a:xfrm>
          <a:prstGeom prst="ellipse">
            <a:avLst/>
          </a:prstGeom>
          <a:solidFill>
            <a:srgbClr val="12141C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3950208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325880" y="38862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1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Malware &amp; File IOCs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731520" y="4434840"/>
            <a:ext cx="3246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Important_HR_INFO_for_mkraeusen (Perl)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MD5: 72d4d364...b837a6d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.crypt ransomware extension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4306824" y="365760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F4F5F9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489704" y="3840480"/>
            <a:ext cx="457200" cy="457200"/>
          </a:xfrm>
          <a:prstGeom prst="ellipse">
            <a:avLst/>
          </a:prstGeom>
          <a:solidFill>
            <a:srgbClr val="12141C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9432" y="3950208"/>
            <a:ext cx="237744" cy="23774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084064" y="38862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1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Credential IOCs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4489704" y="4434840"/>
            <a:ext cx="3246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User: kevin / pass: 8675309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sid=4afac54f6033eff2a78da68797faa38a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adminsid cookie field</a:t>
            </a:r>
            <a:endParaRPr lang="en-US" sz="950" dirty="0"/>
          </a:p>
        </p:txBody>
      </p:sp>
      <p:sp>
        <p:nvSpPr>
          <p:cNvPr id="28" name="Shape 21"/>
          <p:cNvSpPr/>
          <p:nvPr/>
        </p:nvSpPr>
        <p:spPr>
          <a:xfrm>
            <a:off x="8065008" y="365760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F4F5F9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8247888" y="3840480"/>
            <a:ext cx="457200" cy="457200"/>
          </a:xfrm>
          <a:prstGeom prst="ellipse">
            <a:avLst/>
          </a:prstGeom>
          <a:solidFill>
            <a:srgbClr val="12141C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7616" y="3950208"/>
            <a:ext cx="237744" cy="237744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8842248" y="38862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1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Behavioral IOCs</a:t>
            </a:r>
            <a:endParaRPr lang="en-US" sz="1300" dirty="0"/>
          </a:p>
        </p:txBody>
      </p:sp>
      <p:sp>
        <p:nvSpPr>
          <p:cNvPr id="32" name="Text 24"/>
          <p:cNvSpPr/>
          <p:nvPr/>
        </p:nvSpPr>
        <p:spPr>
          <a:xfrm>
            <a:off x="8247888" y="4434840"/>
            <a:ext cx="3246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 force on /member.php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klagerfield backdoor persistence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tee /dev/null — log suppression (4612x)</a:t>
            </a:r>
            <a:endParaRPr lang="en-US" sz="950" dirty="0"/>
          </a:p>
        </p:txBody>
      </p:sp>
      <p:sp>
        <p:nvSpPr>
          <p:cNvPr id="33" name="Text 2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Frothly Multi-Vector Compromise  |  IR-2026-001</a:t>
            </a:r>
            <a:endParaRPr lang="en-US" sz="900" dirty="0"/>
          </a:p>
        </p:txBody>
      </p:sp>
      <p:sp>
        <p:nvSpPr>
          <p:cNvPr id="34" name="Text 2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828800"/>
            <a:ext cx="5486400" cy="5486400"/>
          </a:xfrm>
          <a:prstGeom prst="ellipse">
            <a:avLst/>
          </a:prstGeom>
          <a:solidFill>
            <a:srgbClr val="9C1C29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6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تقييم التأثير  |  Impact Assessment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SEVERITY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628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CRITICAL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3520440" cy="2834640"/>
          </a:xfrm>
          <a:prstGeom prst="roundRect">
            <a:avLst>
              <a:gd name="adj" fmla="val 2581"/>
            </a:avLst>
          </a:prstGeom>
          <a:solidFill>
            <a:srgbClr val="1C2030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2286000"/>
            <a:ext cx="548640" cy="548640"/>
          </a:xfrm>
          <a:prstGeom prst="ellipse">
            <a:avLst/>
          </a:prstGeom>
          <a:solidFill>
            <a:srgbClr val="12141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914" y="2417674"/>
            <a:ext cx="285293" cy="28529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231343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6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Confidentiality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508760" y="262432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628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77240" y="3108960"/>
            <a:ext cx="3063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Credentials, DB content, and IP (patent.docx) exposed &amp; exfiltrated.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343400" y="2057400"/>
            <a:ext cx="3520440" cy="2834640"/>
          </a:xfrm>
          <a:prstGeom prst="roundRect">
            <a:avLst>
              <a:gd name="adj" fmla="val 2581"/>
            </a:avLst>
          </a:prstGeom>
          <a:solidFill>
            <a:srgbClr val="1C2030"/>
          </a:solidFill>
          <a:ln/>
        </p:spPr>
      </p:sp>
      <p:sp>
        <p:nvSpPr>
          <p:cNvPr id="13" name="Shape 10"/>
          <p:cNvSpPr/>
          <p:nvPr/>
        </p:nvSpPr>
        <p:spPr>
          <a:xfrm>
            <a:off x="4572000" y="2286000"/>
            <a:ext cx="548640" cy="548640"/>
          </a:xfrm>
          <a:prstGeom prst="ellipse">
            <a:avLst/>
          </a:prstGeom>
          <a:solidFill>
            <a:srgbClr val="12141C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3674" y="2417674"/>
            <a:ext cx="285293" cy="28529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03520" y="231343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6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Integrity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5303520" y="262432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628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572000" y="3108960"/>
            <a:ext cx="3063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Rogue account created; registry &amp; scheduled tasks modified for persistence.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8138160" y="2057400"/>
            <a:ext cx="3520440" cy="2834640"/>
          </a:xfrm>
          <a:prstGeom prst="roundRect">
            <a:avLst>
              <a:gd name="adj" fmla="val 2581"/>
            </a:avLst>
          </a:prstGeom>
          <a:solidFill>
            <a:srgbClr val="1C2030"/>
          </a:solidFill>
          <a:ln/>
        </p:spPr>
      </p:sp>
      <p:sp>
        <p:nvSpPr>
          <p:cNvPr id="19" name="Shape 15"/>
          <p:cNvSpPr/>
          <p:nvPr/>
        </p:nvSpPr>
        <p:spPr>
          <a:xfrm>
            <a:off x="8366760" y="2286000"/>
            <a:ext cx="548640" cy="548640"/>
          </a:xfrm>
          <a:prstGeom prst="ellipse">
            <a:avLst/>
          </a:prstGeom>
          <a:solidFill>
            <a:srgbClr val="12141C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8434" y="2417674"/>
            <a:ext cx="285293" cy="285293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098280" y="231343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6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Availability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9098280" y="262432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628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8366760" y="3108960"/>
            <a:ext cx="3063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 encryption, file deletion, and log suppression.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Frothly Multi-Vector Compromise  |  IR-2026-001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91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خطة الاستجابة والمعالجة  |  Remediation &amp; Mitigation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3611880" cy="4480560"/>
          </a:xfrm>
          <a:prstGeom prst="roundRect">
            <a:avLst>
              <a:gd name="adj" fmla="val 2025"/>
            </a:avLst>
          </a:prstGeom>
          <a:solidFill>
            <a:srgbClr val="F4F5F9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371600"/>
            <a:ext cx="548640" cy="548640"/>
          </a:xfrm>
          <a:prstGeom prst="ellipse">
            <a:avLst/>
          </a:prstGeom>
          <a:solidFill>
            <a:srgbClr val="D62839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914" y="1503274"/>
            <a:ext cx="285293" cy="2852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05740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91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Immediate — Containment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777240" y="2651760"/>
            <a:ext cx="31546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 MACLORY-AIR13 &amp; kutekitten from the network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45.77.65.211 and malicious DNS domains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rogue 'klagerfield' account, reset all sessions/passwords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scheduled tasks &amp; malicious registry payloads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306824" y="1143000"/>
            <a:ext cx="3611880" cy="4480560"/>
          </a:xfrm>
          <a:prstGeom prst="roundRect">
            <a:avLst>
              <a:gd name="adj" fmla="val 2025"/>
            </a:avLst>
          </a:prstGeom>
          <a:solidFill>
            <a:srgbClr val="F4F5F9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35424" y="1371600"/>
            <a:ext cx="548640" cy="548640"/>
          </a:xfrm>
          <a:prstGeom prst="ellipse">
            <a:avLst/>
          </a:prstGeom>
          <a:solidFill>
            <a:srgbClr val="D62839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098" y="1503274"/>
            <a:ext cx="285293" cy="28529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35424" y="205740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91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Short-Term — Vulnerability Fixes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4535424" y="2651760"/>
            <a:ext cx="31546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Parameterized queries to eliminate SQLi in /member.php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 &amp; output encoding to patch XSS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WAF and rate-limit login endpoints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AWS IMDSv2 to block metadata enumeration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8065008" y="1143000"/>
            <a:ext cx="3611880" cy="4480560"/>
          </a:xfrm>
          <a:prstGeom prst="roundRect">
            <a:avLst>
              <a:gd name="adj" fmla="val 2025"/>
            </a:avLst>
          </a:prstGeom>
          <a:solidFill>
            <a:srgbClr val="F4F5F9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293608" y="1371600"/>
            <a:ext cx="548640" cy="548640"/>
          </a:xfrm>
          <a:prstGeom prst="ellipse">
            <a:avLst/>
          </a:prstGeom>
          <a:solidFill>
            <a:srgbClr val="D62839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5282" y="1503274"/>
            <a:ext cx="285293" cy="28529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93608" y="205740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91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Long-Term — Policy &amp; Monitoring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8293608" y="2651760"/>
            <a:ext cx="31546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HR/Legal investigation into insider activity (Amber)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EDR for continuous anomaly monitoring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Restrict/monitor removable USB devices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Security-awareness training on phishing &amp; social engineering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Frothly Multi-Vector Compromise  |  IR-2026-001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9C1C29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6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الخلاصة  |  Conclusion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حملة استخبارات تهديدات متقدمة (APT) منسّقة بالكامل، جمعت بين تهديد داخلي، هندسة اجتماعية، اختراق فعلي، واستغلال ويب — انتهت بفدية خبيثة أثّرت على السرية والسلامة والتوافر بالكامل.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1481328" cy="1051560"/>
          </a:xfrm>
          <a:prstGeom prst="roundRect">
            <a:avLst>
              <a:gd name="adj" fmla="val 6957"/>
            </a:avLst>
          </a:prstGeom>
          <a:solidFill>
            <a:srgbClr val="1C203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450592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28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724912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Reconnaissance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029968" y="2651760"/>
            <a:ext cx="115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628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145792" y="2377440"/>
            <a:ext cx="1481328" cy="1051560"/>
          </a:xfrm>
          <a:prstGeom prst="roundRect">
            <a:avLst>
              <a:gd name="adj" fmla="val 6957"/>
            </a:avLst>
          </a:prstGeom>
          <a:solidFill>
            <a:srgbClr val="1C2030"/>
          </a:solidFill>
          <a:ln/>
        </p:spPr>
      </p:sp>
      <p:sp>
        <p:nvSpPr>
          <p:cNvPr id="10" name="Text 8"/>
          <p:cNvSpPr/>
          <p:nvPr/>
        </p:nvSpPr>
        <p:spPr>
          <a:xfrm>
            <a:off x="2237232" y="2450592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28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37232" y="2724912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Weaponization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27120" y="2651760"/>
            <a:ext cx="115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628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742944" y="2377440"/>
            <a:ext cx="1481328" cy="1051560"/>
          </a:xfrm>
          <a:prstGeom prst="roundRect">
            <a:avLst>
              <a:gd name="adj" fmla="val 6957"/>
            </a:avLst>
          </a:prstGeom>
          <a:solidFill>
            <a:srgbClr val="1C2030"/>
          </a:solidFill>
          <a:ln/>
        </p:spPr>
      </p:sp>
      <p:sp>
        <p:nvSpPr>
          <p:cNvPr id="14" name="Text 12"/>
          <p:cNvSpPr/>
          <p:nvPr/>
        </p:nvSpPr>
        <p:spPr>
          <a:xfrm>
            <a:off x="3834384" y="2450592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28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834384" y="2724912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224272" y="2651760"/>
            <a:ext cx="115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628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340096" y="2377440"/>
            <a:ext cx="1481328" cy="1051560"/>
          </a:xfrm>
          <a:prstGeom prst="roundRect">
            <a:avLst>
              <a:gd name="adj" fmla="val 6957"/>
            </a:avLst>
          </a:prstGeom>
          <a:solidFill>
            <a:srgbClr val="1C2030"/>
          </a:solidFill>
          <a:ln/>
        </p:spPr>
      </p:sp>
      <p:sp>
        <p:nvSpPr>
          <p:cNvPr id="18" name="Text 16"/>
          <p:cNvSpPr/>
          <p:nvPr/>
        </p:nvSpPr>
        <p:spPr>
          <a:xfrm>
            <a:off x="5431536" y="2450592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28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31536" y="2724912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Exploitation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21424" y="2651760"/>
            <a:ext cx="115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628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937248" y="2377440"/>
            <a:ext cx="1481328" cy="1051560"/>
          </a:xfrm>
          <a:prstGeom prst="roundRect">
            <a:avLst>
              <a:gd name="adj" fmla="val 6957"/>
            </a:avLst>
          </a:prstGeom>
          <a:solidFill>
            <a:srgbClr val="1C2030"/>
          </a:solidFill>
          <a:ln/>
        </p:spPr>
      </p:sp>
      <p:sp>
        <p:nvSpPr>
          <p:cNvPr id="22" name="Text 20"/>
          <p:cNvSpPr/>
          <p:nvPr/>
        </p:nvSpPr>
        <p:spPr>
          <a:xfrm>
            <a:off x="7028688" y="2450592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28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028688" y="2724912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418576" y="2651760"/>
            <a:ext cx="115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628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534400" y="2377440"/>
            <a:ext cx="1481328" cy="1051560"/>
          </a:xfrm>
          <a:prstGeom prst="roundRect">
            <a:avLst>
              <a:gd name="adj" fmla="val 6957"/>
            </a:avLst>
          </a:prstGeom>
          <a:solidFill>
            <a:srgbClr val="1C2030"/>
          </a:solidFill>
          <a:ln/>
        </p:spPr>
      </p:sp>
      <p:sp>
        <p:nvSpPr>
          <p:cNvPr id="26" name="Text 24"/>
          <p:cNvSpPr/>
          <p:nvPr/>
        </p:nvSpPr>
        <p:spPr>
          <a:xfrm>
            <a:off x="8625840" y="2450592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28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625840" y="2724912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015728" y="2651760"/>
            <a:ext cx="115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628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0131552" y="2377440"/>
            <a:ext cx="1481328" cy="1051560"/>
          </a:xfrm>
          <a:prstGeom prst="roundRect">
            <a:avLst>
              <a:gd name="adj" fmla="val 6957"/>
            </a:avLst>
          </a:prstGeom>
          <a:solidFill>
            <a:srgbClr val="1C2030"/>
          </a:solidFill>
          <a:ln/>
        </p:spPr>
      </p:sp>
      <p:sp>
        <p:nvSpPr>
          <p:cNvPr id="30" name="Text 28"/>
          <p:cNvSpPr/>
          <p:nvPr/>
        </p:nvSpPr>
        <p:spPr>
          <a:xfrm>
            <a:off x="10222992" y="2450592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28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222992" y="2724912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on Objectives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8640" y="3794760"/>
            <a:ext cx="11064240" cy="1965960"/>
          </a:xfrm>
          <a:prstGeom prst="roundRect">
            <a:avLst>
              <a:gd name="adj" fmla="val 3721"/>
            </a:avLst>
          </a:prstGeom>
          <a:solidFill>
            <a:srgbClr val="1C2030"/>
          </a:solidFill>
          <a:ln/>
        </p:spPr>
      </p:sp>
      <p:sp>
        <p:nvSpPr>
          <p:cNvPr id="33" name="Text 31"/>
          <p:cNvSpPr/>
          <p:nvPr/>
        </p:nvSpPr>
        <p:spPr>
          <a:xfrm>
            <a:off x="822960" y="3977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22960" y="429768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متجهات هجوم متزامنة: داخلي، ويب، تصيّد، USB فعلي، وفدية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بنية C2 موحّدة عبر 45.77.65.211 ونطاقات DNS ديناميكية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التصنيف: CRITICAL — يتطلب استجابة فورية شاملة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 2 Investigation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Splunk 2 Investigation - Frothly Multi-Vector Compromise</dc:title>
  <dc:subject>PptxGenJS Presentation</dc:subject>
  <dc:creator>Ahmed Atef Gad</dc:creator>
  <cp:lastModifiedBy>Ahmed Atef Gad</cp:lastModifiedBy>
  <cp:revision>1</cp:revision>
  <dcterms:created xsi:type="dcterms:W3CDTF">2026-07-03T00:52:39Z</dcterms:created>
  <dcterms:modified xsi:type="dcterms:W3CDTF">2026-07-03T00:52:39Z</dcterms:modified>
</cp:coreProperties>
</file>